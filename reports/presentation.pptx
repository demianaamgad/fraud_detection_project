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rata"/>
      <p:regular r:id="rId17"/>
    </p:embeddedFont>
    <p:embeddedFont>
      <p:font typeface="Prata"/>
      <p:regular r:id="rId18"/>
    </p:embeddedFont>
    <p:embeddedFont>
      <p:font typeface="Manrope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0040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Medicare Provider Fraud Detection Using Machine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517469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Team: Demiana Yakoob, Fatma Abdelhadi, Mohammed Abdelsattar, Mohammed Yasser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556629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Date: October 26, 2023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9802892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Alarming Scope of Medicare Fraud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38" y="1752481"/>
            <a:ext cx="6342102" cy="634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4280" y="1726644"/>
            <a:ext cx="3767138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is Medicare Fraud?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574280" y="2319338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Intentional deception by healthcare providers to receive improper payments from Medicare.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4280" y="3185279"/>
            <a:ext cx="3093006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Financial Impact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574280" y="3777972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Billions lost annually (estimated $60-90B).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4280" y="4180046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Higher premiums and reduced services for beneficiaries.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74280" y="4582120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Threatens the sustainability of the healthcare system.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1818"/>
            <a:ext cx="122540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Why Fraud Detection Matters: Our Objective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64387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212326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633907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332422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48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5761" y="3528298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4231362"/>
            <a:ext cx="32704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Safeguard Public Funds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4721781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Protect taxpayer money and ensure proper allocation of healthcare resources.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664387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212326"/>
          </a:solidFill>
          <a:ln/>
        </p:spPr>
      </p:sp>
      <p:sp>
        <p:nvSpPr>
          <p:cNvPr id="10" name="Shape 7"/>
          <p:cNvSpPr/>
          <p:nvPr/>
        </p:nvSpPr>
        <p:spPr>
          <a:xfrm>
            <a:off x="5216962" y="3633907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11" name="Shape 8"/>
          <p:cNvSpPr/>
          <p:nvPr/>
        </p:nvSpPr>
        <p:spPr>
          <a:xfrm>
            <a:off x="6974860" y="332422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482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8933" y="3528298"/>
            <a:ext cx="272177" cy="2721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74256" y="4231362"/>
            <a:ext cx="34868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Maintain System Integrity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474256" y="4721781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Preserve trust in the Medicare program and uphold ethical standards.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9640133" y="3664387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212326"/>
          </a:solidFill>
          <a:ln/>
        </p:spPr>
      </p:sp>
      <p:sp>
        <p:nvSpPr>
          <p:cNvPr id="16" name="Shape 12"/>
          <p:cNvSpPr/>
          <p:nvPr/>
        </p:nvSpPr>
        <p:spPr>
          <a:xfrm>
            <a:off x="9640133" y="3633907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17" name="Shape 13"/>
          <p:cNvSpPr/>
          <p:nvPr/>
        </p:nvSpPr>
        <p:spPr>
          <a:xfrm>
            <a:off x="11398032" y="332422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482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02105" y="3528298"/>
            <a:ext cx="272177" cy="27217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97427" y="4231362"/>
            <a:ext cx="31825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Proactive Identification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9897427" y="4721781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 a robust ML model to identify fraudulent claims and providers early.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536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049" y="3360420"/>
            <a:ext cx="9773841" cy="688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Dataset Overview: Core Components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71049" y="4379238"/>
            <a:ext cx="13088303" cy="3243501"/>
          </a:xfrm>
          <a:prstGeom prst="roundRect">
            <a:avLst>
              <a:gd name="adj" fmla="val 1019"/>
            </a:avLst>
          </a:prstGeom>
          <a:solidFill>
            <a:srgbClr val="404245"/>
          </a:solidFill>
          <a:ln/>
        </p:spPr>
      </p:sp>
      <p:sp>
        <p:nvSpPr>
          <p:cNvPr id="5" name="Shape 2"/>
          <p:cNvSpPr/>
          <p:nvPr/>
        </p:nvSpPr>
        <p:spPr>
          <a:xfrm>
            <a:off x="771049" y="4379238"/>
            <a:ext cx="6544151" cy="1621750"/>
          </a:xfrm>
          <a:prstGeom prst="roundRect">
            <a:avLst>
              <a:gd name="adj" fmla="val 2038"/>
            </a:avLst>
          </a:prstGeom>
          <a:solidFill>
            <a:srgbClr val="404245"/>
          </a:solidFill>
          <a:ln/>
        </p:spPr>
      </p:sp>
      <p:sp>
        <p:nvSpPr>
          <p:cNvPr id="6" name="Text 3"/>
          <p:cNvSpPr/>
          <p:nvPr/>
        </p:nvSpPr>
        <p:spPr>
          <a:xfrm>
            <a:off x="991314" y="4599503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Provider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991314" y="5075873"/>
            <a:ext cx="57732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Demographic and historical data for each healthcare provider.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315200" y="4379238"/>
            <a:ext cx="6544151" cy="1621750"/>
          </a:xfrm>
          <a:prstGeom prst="rect">
            <a:avLst/>
          </a:prstGeom>
          <a:solidFill>
            <a:srgbClr val="404245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0" y="4379238"/>
            <a:ext cx="30480" cy="1621750"/>
          </a:xfrm>
          <a:prstGeom prst="roundRect">
            <a:avLst>
              <a:gd name="adj" fmla="val 108416"/>
            </a:avLst>
          </a:prstGeom>
          <a:solidFill>
            <a:srgbClr val="595B5E"/>
          </a:solidFill>
          <a:ln/>
        </p:spPr>
      </p:sp>
      <p:sp>
        <p:nvSpPr>
          <p:cNvPr id="10" name="Text 7"/>
          <p:cNvSpPr/>
          <p:nvPr/>
        </p:nvSpPr>
        <p:spPr>
          <a:xfrm>
            <a:off x="7865864" y="4599503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Inpatient Claims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7865864" y="5075873"/>
            <a:ext cx="5773222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Records for services provided during hospital stays.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039928" y="4914721"/>
            <a:ext cx="550664" cy="550664"/>
          </a:xfrm>
          <a:prstGeom prst="roundRect">
            <a:avLst>
              <a:gd name="adj" fmla="val 6001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7564" y="5052358"/>
            <a:ext cx="275273" cy="27527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1049" y="6000988"/>
            <a:ext cx="6544151" cy="1621750"/>
          </a:xfrm>
          <a:prstGeom prst="rect">
            <a:avLst/>
          </a:prstGeom>
          <a:solidFill>
            <a:srgbClr val="404245"/>
          </a:solidFill>
          <a:ln/>
        </p:spPr>
      </p:sp>
      <p:sp>
        <p:nvSpPr>
          <p:cNvPr id="15" name="Shape 11"/>
          <p:cNvSpPr/>
          <p:nvPr/>
        </p:nvSpPr>
        <p:spPr>
          <a:xfrm>
            <a:off x="771049" y="6000988"/>
            <a:ext cx="6544151" cy="30480"/>
          </a:xfrm>
          <a:prstGeom prst="roundRect">
            <a:avLst>
              <a:gd name="adj" fmla="val 108416"/>
            </a:avLst>
          </a:prstGeom>
          <a:solidFill>
            <a:srgbClr val="595B5E"/>
          </a:solidFill>
          <a:ln/>
        </p:spPr>
      </p:sp>
      <p:sp>
        <p:nvSpPr>
          <p:cNvPr id="16" name="Text 12"/>
          <p:cNvSpPr/>
          <p:nvPr/>
        </p:nvSpPr>
        <p:spPr>
          <a:xfrm>
            <a:off x="991314" y="6221254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Outpatient Claims</a:t>
            </a:r>
            <a:endParaRPr lang="en-US" sz="2150" dirty="0"/>
          </a:p>
        </p:txBody>
      </p:sp>
      <p:sp>
        <p:nvSpPr>
          <p:cNvPr id="17" name="Text 13"/>
          <p:cNvSpPr/>
          <p:nvPr/>
        </p:nvSpPr>
        <p:spPr>
          <a:xfrm>
            <a:off x="991314" y="6697623"/>
            <a:ext cx="57732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Records for services provided in clinics or other non-inpatient settings.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7315200" y="6000988"/>
            <a:ext cx="6544151" cy="1621750"/>
          </a:xfrm>
          <a:prstGeom prst="rect">
            <a:avLst/>
          </a:prstGeom>
          <a:solidFill>
            <a:srgbClr val="404245"/>
          </a:solidFill>
          <a:ln/>
        </p:spPr>
      </p:sp>
      <p:sp>
        <p:nvSpPr>
          <p:cNvPr id="19" name="Shape 15"/>
          <p:cNvSpPr/>
          <p:nvPr/>
        </p:nvSpPr>
        <p:spPr>
          <a:xfrm>
            <a:off x="7315200" y="6000988"/>
            <a:ext cx="30480" cy="1621750"/>
          </a:xfrm>
          <a:prstGeom prst="roundRect">
            <a:avLst>
              <a:gd name="adj" fmla="val 108416"/>
            </a:avLst>
          </a:prstGeom>
          <a:solidFill>
            <a:srgbClr val="595B5E"/>
          </a:solidFill>
          <a:ln/>
        </p:spPr>
      </p:sp>
      <p:sp>
        <p:nvSpPr>
          <p:cNvPr id="20" name="Shape 16"/>
          <p:cNvSpPr/>
          <p:nvPr/>
        </p:nvSpPr>
        <p:spPr>
          <a:xfrm>
            <a:off x="7315200" y="6000988"/>
            <a:ext cx="6544151" cy="30480"/>
          </a:xfrm>
          <a:prstGeom prst="roundRect">
            <a:avLst>
              <a:gd name="adj" fmla="val 108416"/>
            </a:avLst>
          </a:prstGeom>
          <a:solidFill>
            <a:srgbClr val="595B5E"/>
          </a:solidFill>
          <a:ln/>
        </p:spPr>
      </p:sp>
      <p:sp>
        <p:nvSpPr>
          <p:cNvPr id="21" name="Text 17"/>
          <p:cNvSpPr/>
          <p:nvPr/>
        </p:nvSpPr>
        <p:spPr>
          <a:xfrm>
            <a:off x="7865864" y="6221254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Beneficiary</a:t>
            </a:r>
            <a:endParaRPr lang="en-US" sz="2150" dirty="0"/>
          </a:p>
        </p:txBody>
      </p:sp>
      <p:sp>
        <p:nvSpPr>
          <p:cNvPr id="22" name="Text 18"/>
          <p:cNvSpPr/>
          <p:nvPr/>
        </p:nvSpPr>
        <p:spPr>
          <a:xfrm>
            <a:off x="7865864" y="6697623"/>
            <a:ext cx="57732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Demographic and health information of Medicare recipients.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7039928" y="6536472"/>
            <a:ext cx="550664" cy="550664"/>
          </a:xfrm>
          <a:prstGeom prst="roundRect">
            <a:avLst>
              <a:gd name="adj" fmla="val 6001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7564" y="6674108"/>
            <a:ext cx="275273" cy="2752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1134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Defining the Target: Fraudulent Providers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836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Label Generation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820472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Providers were labeled as 'Fraud' if they submitted at least one fraudulent claim, based on historical investigations.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801427"/>
            <a:ext cx="7604284" cy="1315879"/>
          </a:xfrm>
          <a:prstGeom prst="roundRect">
            <a:avLst>
              <a:gd name="adj" fmla="val 258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3809047"/>
            <a:ext cx="7589044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28224" y="3952756"/>
            <a:ext cx="33370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Legitimate Provider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826556" y="3952756"/>
            <a:ext cx="33370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 (Non-Fraud)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4459367"/>
            <a:ext cx="7589044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224" y="4603075"/>
            <a:ext cx="33370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Fraudulent Provider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826556" y="4603075"/>
            <a:ext cx="33370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(Fraud)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372457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binary classification allows us to train models to distinguish between these two categories.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119978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Preprocessing: Building a Unified 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40593"/>
            <a:ext cx="4196358" cy="3048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Merging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Consolidated claims (inpatient, outpatient) and beneficiary data with provider records.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840593"/>
            <a:ext cx="4196358" cy="3048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014901"/>
            <a:ext cx="35778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Cleaning &amp; Missing Values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Addressed inconsistent entries, duplicates, and imputed missing values using domain-specific strategies.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840593"/>
            <a:ext cx="4196358" cy="3048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014901"/>
            <a:ext cx="36430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Encoding Categorical Data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Converted categorical variables (e.g., medical specialities, states) into numerical formats.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Outlier Handling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Identified and managed extreme values in numerical features to prevent model distortion.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Feature Aggregation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Summarized claim-level data to provider-level metrics (e.g., total claim amount, number of claims).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4586" y="388620"/>
            <a:ext cx="8053983" cy="441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Feature Engineering &amp; EDA: Revealing Patterns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4586" y="1183600"/>
            <a:ext cx="2560558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Engineered Features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94586" y="1589961"/>
            <a:ext cx="6648212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Claim Counts &amp; Amounts: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Total claims, average claim amount per provider.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4586" y="1865471"/>
            <a:ext cx="6648212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Chronic Conditions: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Number of unique chronic conditions treated.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4586" y="2140982"/>
            <a:ext cx="6648212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Procedure Codes: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Frequency of specific procedure codes.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4586" y="2416493"/>
            <a:ext cx="6648212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Beneficiary Data: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Patient age distribution, previous claims history.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5223" y="1201222"/>
            <a:ext cx="6648212" cy="66482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5223" y="8008382"/>
            <a:ext cx="4170402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Exploratory Data Analysis (EDA) Insights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495223" y="8414742"/>
            <a:ext cx="6648212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Fraudulent providers often exhibit unusual billing patterns.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5223" y="8690253"/>
            <a:ext cx="6648212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Higher volume of claims for specific, lucrative procedures.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5223" y="8965763"/>
            <a:ext cx="6648212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Associations between certain chronic conditions and fraud flags.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847" y="534114"/>
            <a:ext cx="10146268" cy="606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Addressing Class Imbalance: A Critical Step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847" y="1650921"/>
            <a:ext cx="6398419" cy="63984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59754" y="1626632"/>
            <a:ext cx="2913817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Challenge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7559754" y="2184916"/>
            <a:ext cx="6398419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Medicare fraud is rare, leading to a highly imbalanced dataset (very few 'Fraud' labels).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559754" y="3000851"/>
            <a:ext cx="3340775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Strategies Implemented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7559754" y="3559135"/>
            <a:ext cx="6398419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 Weights: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Assigned higher weights to minority class during model training to emphasize fraud instances.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59754" y="4248864"/>
            <a:ext cx="6398419" cy="932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SMOTE (Synthetic Minority Over-sampling Technique):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Generated synthetic samples for the minority class to balance the dataset.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59754" y="5375672"/>
            <a:ext cx="2913817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Evaluation Metrics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7559754" y="5933956"/>
            <a:ext cx="6398419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Accuracy alone is misleading. Focused on Precision, Recall, F1-score, and AUC to evaluate performance effectively on imbalanced data.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699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Modeling Approach: From Baselines to Ensemble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88181"/>
            <a:ext cx="4196358" cy="2032754"/>
          </a:xfrm>
          <a:prstGeom prst="roundRect">
            <a:avLst>
              <a:gd name="adj" fmla="val 26781"/>
            </a:avLst>
          </a:prstGeom>
          <a:solidFill>
            <a:srgbClr val="404245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8149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30541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Linear model for baseline performance and interpretability.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588181"/>
            <a:ext cx="4196358" cy="2032754"/>
          </a:xfrm>
          <a:prstGeom prst="roundRect">
            <a:avLst>
              <a:gd name="adj" fmla="val 26781"/>
            </a:avLst>
          </a:prstGeom>
          <a:solidFill>
            <a:srgbClr val="404245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28149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305413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Ensemble method to capture non-linear relationships and reduce overfitting.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588181"/>
            <a:ext cx="4196358" cy="2032754"/>
          </a:xfrm>
          <a:prstGeom prst="roundRect">
            <a:avLst>
              <a:gd name="adj" fmla="val 26781"/>
            </a:avLst>
          </a:prstGeom>
          <a:solidFill>
            <a:srgbClr val="404245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28149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XGBoost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305413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Gradient boosting for high performance and handling complex data patterns.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487608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594205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Considerations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793790" y="67075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Train-Test Split: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80% for training, 20% for testing to evaluate generalization.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71497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Hyperparameter Tuning: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Used GridSearchCV/RandomizedSearchCV to optimize model parameters for best performance.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805" y="422553"/>
            <a:ext cx="8007310" cy="48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Results Summary: Performance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7805" y="1286828"/>
            <a:ext cx="3123605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Model Performance Metrics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37805" y="1747838"/>
            <a:ext cx="7982903" cy="1597343"/>
          </a:xfrm>
          <a:prstGeom prst="roundRect">
            <a:avLst>
              <a:gd name="adj" fmla="val 144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5425" y="1755458"/>
            <a:ext cx="7967662" cy="6912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99016" y="1855232"/>
            <a:ext cx="1282541" cy="49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96358" y="1855232"/>
            <a:ext cx="127873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0.65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89891" y="1855232"/>
            <a:ext cx="127873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0.58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3423" y="1855232"/>
            <a:ext cx="127873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0.61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76956" y="1855232"/>
            <a:ext cx="128254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0.72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5425" y="2446734"/>
            <a:ext cx="7967662" cy="4454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99016" y="2546509"/>
            <a:ext cx="128254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96358" y="2546509"/>
            <a:ext cx="127873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0.78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9891" y="2546509"/>
            <a:ext cx="127873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0.72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3423" y="2546509"/>
            <a:ext cx="127873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0.75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76956" y="2546509"/>
            <a:ext cx="128254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0.85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5425" y="2892147"/>
            <a:ext cx="7967662" cy="4454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99016" y="2991922"/>
            <a:ext cx="128254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XGBoost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96358" y="2991922"/>
            <a:ext cx="127873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0.82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89891" y="2991922"/>
            <a:ext cx="127873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0.79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3423" y="2991922"/>
            <a:ext cx="127873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0.80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76956" y="2991922"/>
            <a:ext cx="1282541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0.89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7805" y="3518059"/>
            <a:ext cx="7982903" cy="49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XGBoost consistently outperformed other models, achieving the highest AUC and F1-score, indicating superior balance between precision and recall.</a:t>
            </a:r>
            <a:endParaRPr lang="en-US" sz="12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137" y="1306116"/>
            <a:ext cx="5196959" cy="5196959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903137" y="6675953"/>
            <a:ext cx="3487103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Visualizing Model Effectiveness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903137" y="7117675"/>
            <a:ext cx="5196959" cy="49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ROC Curves: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Show trade-off between true positive rate and false positive rate.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903137" y="7663101"/>
            <a:ext cx="5196959" cy="49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Confusion Matrix: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Detailed breakdown of true positives, negatives, false positives, and false negatives.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903137" y="8208526"/>
            <a:ext cx="5196959" cy="49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 Importance: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Ranks features by their contribution to model predictions.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2025-12-06T22:01:07Z</dcterms:created>
  <dcterms:modified xsi:type="dcterms:W3CDTF">2025-12-06T22:01:07Z</dcterms:modified>
</cp:coreProperties>
</file>